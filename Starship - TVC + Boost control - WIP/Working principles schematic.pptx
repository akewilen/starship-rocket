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EF9F6-6D10-B98C-21FD-E59A6C94C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30C7D-1AC8-92E9-1A9F-44AA93803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22C76-2B2B-F352-A95F-0FC247E8C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BA27D-147E-5E69-A903-14E22149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65E55-EA8F-B7EE-5C11-39253B16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7300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D979-54F5-E04D-605F-228F2E27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DFD3C-7541-64AE-9C35-917025A0B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F0794-B9FD-0232-561C-2E7E056E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15DDF-AC7F-ACA6-38B4-4E258E171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17E1A-5662-79C5-2DB2-FD35FC40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8430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C85A2-0536-645A-327D-D8518020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8AA01-0FE7-04C3-4E28-A68DB7182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E44FB-3481-1DE6-ED6B-F0EF88BE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3C685-A7C3-8728-5F3D-7FFEC8E2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29016-53F0-8D4C-2DA0-CE944516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6785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FD50-6E0B-BBA7-96F1-84A4D555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3C699-9794-FCEA-794F-CD620C1DB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769E8-8A62-40B4-B911-F24AF559B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B4B9C-36D4-3870-7625-AAFEE575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1AA50-8F88-CE31-27CF-0A971652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BA97D-515C-7AAC-76B9-B6A6E3E1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8438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13CD-FF57-CC37-CD22-E16C7AF2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4F311-0B8C-C755-A37D-AF3CDD4BB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E86BF-947D-AAFD-E95A-289413940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04CF5-0CD0-1DEC-173D-F16F649F1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3062EF-D911-1EC3-6F24-D941A7883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23A31-1640-449B-8028-1F46CF1D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C4DC6-7551-2F8C-8119-E9D1895A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30C75-76D1-9051-1DB0-C7F79CD9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91846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3F17A-9180-F7B3-4887-3B5499D3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6AE5C-64E5-6DA2-C057-914C59FC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B78C3-45BB-F5C7-4B37-6651AFFA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C5A56-9D98-F33C-8EAB-F4590DC30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7760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9D394-5F87-0862-A6B0-744083E8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DF31F-8CBD-8C00-8DB0-F272B899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80861-0F5C-3D14-7126-0827AE82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0379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E0E6D-0EF2-47ED-9F44-DDB96008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1BDFD-1244-D1CA-DA7A-CEF55A73D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7805A-A182-432B-D9E9-09E37C65D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6F0BB-8E60-089C-D9BA-12C37F28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5F93D-637A-93B8-FAE4-FBBF502F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690FC-9EAE-4A73-64EE-6E88C32F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45793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8BD4-0467-9941-E578-5EC35297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321F9-81E0-9838-B9E2-808B5408A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F34D8-49F3-47A8-E813-0CB43F692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F1FF8-B37B-2330-62E1-0A56968C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7579D-938B-E3CD-AFD5-C1F1C1E5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F4C51-D5CE-F3AD-C10B-7FAF136D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3163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E3D3-D795-2970-0918-EB75F761A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3DE87-3B7F-222E-4288-83AEEBE95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6B6C6-DCE6-C7A8-500E-53A31D2C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F094B-4A4D-5E56-14CE-5934E712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1846A-FB14-E4B4-0BEC-95372879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34861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2C49D-86A1-1769-EBD3-D93602074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82DBB-3F1A-053E-D470-9B5CA931A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A41F2-3543-8460-2A1E-DD26411F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DBFD-3FE3-5CAB-8ED9-E4D1771A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EB3F0-4B97-5BBF-CB33-C43AC4C8D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7662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2906E8-F4F3-2208-0CBC-1364117E9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146F9-B3A7-9821-44BF-8E0A64937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02AF1-7D6D-4668-4C24-FEA9BE114C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8BA0D-D542-451D-90A2-B3F51C6D0624}" type="datetimeFigureOut">
              <a:rPr lang="en-SE" smtClean="0"/>
              <a:t>2025-11-30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2C4E0-B5E3-CAAE-E135-394D72E82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CF635-88D0-9776-8F13-170BEB0CA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16489-C5B3-4F5D-AFD2-1F357C6D147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6134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n.wikipedia.org/wiki/Torque" TargetMode="External"/><Relationship Id="rId4" Type="http://schemas.openxmlformats.org/officeDocument/2006/relationships/hyperlink" Target="https://en.wikipedia.org/wiki/Counter-rotating_ro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diagram of a rocket launch&#10;&#10;AI-generated content may be incorrect.">
            <a:extLst>
              <a:ext uri="{FF2B5EF4-FFF2-40B4-BE49-F238E27FC236}">
                <a16:creationId xmlns:a16="http://schemas.microsoft.com/office/drawing/2014/main" id="{FCEB94F4-6A07-B7CB-B8D5-B226217F8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174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71EEE5-E15F-5B7D-FF03-BED6B54DD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884" y="239746"/>
            <a:ext cx="8129116" cy="2503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8C1FAB-8850-295A-F18F-E42CCE786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27" y="2893925"/>
            <a:ext cx="7429306" cy="3821340"/>
          </a:xfrm>
          <a:prstGeom prst="rect">
            <a:avLst/>
          </a:prstGeom>
        </p:spPr>
      </p:pic>
      <p:pic>
        <p:nvPicPr>
          <p:cNvPr id="9" name="Picture 8" descr="A blue rocket with fire coming out of it&#10;&#10;AI-generated content may be incorrect.">
            <a:extLst>
              <a:ext uri="{FF2B5EF4-FFF2-40B4-BE49-F238E27FC236}">
                <a16:creationId xmlns:a16="http://schemas.microsoft.com/office/drawing/2014/main" id="{00641993-2242-6339-6211-BA3A8E669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49204">
            <a:off x="1814918" y="2818908"/>
            <a:ext cx="1308868" cy="149941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F577D0-2702-862B-6E53-8FA0358A5BFB}"/>
              </a:ext>
            </a:extLst>
          </p:cNvPr>
          <p:cNvCxnSpPr/>
          <p:nvPr/>
        </p:nvCxnSpPr>
        <p:spPr>
          <a:xfrm>
            <a:off x="1641491" y="2696020"/>
            <a:ext cx="0" cy="38345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5057B8-6E49-9633-CE25-07D66A9017E5}"/>
              </a:ext>
            </a:extLst>
          </p:cNvPr>
          <p:cNvCxnSpPr/>
          <p:nvPr/>
        </p:nvCxnSpPr>
        <p:spPr>
          <a:xfrm>
            <a:off x="1641490" y="2696020"/>
            <a:ext cx="146500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074CFA-DA40-9AA3-9A45-065E4F293683}"/>
              </a:ext>
            </a:extLst>
          </p:cNvPr>
          <p:cNvCxnSpPr/>
          <p:nvPr/>
        </p:nvCxnSpPr>
        <p:spPr>
          <a:xfrm>
            <a:off x="1641491" y="6530600"/>
            <a:ext cx="14650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33F95D6-2895-5980-8074-C876F6F32B4E}"/>
              </a:ext>
            </a:extLst>
          </p:cNvPr>
          <p:cNvSpPr txBox="1"/>
          <p:nvPr/>
        </p:nvSpPr>
        <p:spPr>
          <a:xfrm>
            <a:off x="747732" y="2511354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h_max</a:t>
            </a:r>
            <a:endParaRPr lang="en-S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2B67BD-D3DB-C238-BE49-E6CF9B47CEA9}"/>
              </a:ext>
            </a:extLst>
          </p:cNvPr>
          <p:cNvSpPr txBox="1"/>
          <p:nvPr/>
        </p:nvSpPr>
        <p:spPr>
          <a:xfrm>
            <a:off x="761185" y="6345934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h_min</a:t>
            </a:r>
            <a:endParaRPr lang="en-SE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FE53E2-5EE5-39E5-A662-202D1D8AC2D0}"/>
              </a:ext>
            </a:extLst>
          </p:cNvPr>
          <p:cNvSpPr/>
          <p:nvPr/>
        </p:nvSpPr>
        <p:spPr>
          <a:xfrm>
            <a:off x="662086" y="714257"/>
            <a:ext cx="3283542" cy="13814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b="1" u="sng" dirty="0"/>
              <a:t>Height control</a:t>
            </a:r>
          </a:p>
          <a:p>
            <a:pPr marL="342900" indent="-342900">
              <a:buAutoNum type="arabicPeriod"/>
            </a:pPr>
            <a:r>
              <a:rPr lang="en-GB" sz="1100" dirty="0" err="1"/>
              <a:t>h_ref</a:t>
            </a:r>
            <a:r>
              <a:rPr lang="en-GB" sz="1100" dirty="0"/>
              <a:t> is set in a pre-established flight-plan.</a:t>
            </a:r>
          </a:p>
          <a:p>
            <a:pPr marL="342900" indent="-342900">
              <a:buAutoNum type="arabicPeriod"/>
            </a:pPr>
            <a:r>
              <a:rPr lang="en-GB" sz="1100" dirty="0" err="1"/>
              <a:t>h_error</a:t>
            </a:r>
            <a:r>
              <a:rPr lang="en-GB" sz="1100" dirty="0"/>
              <a:t> = </a:t>
            </a:r>
            <a:r>
              <a:rPr lang="en-GB" sz="1100" dirty="0" err="1"/>
              <a:t>h_ref</a:t>
            </a:r>
            <a:r>
              <a:rPr lang="en-GB" sz="1100" dirty="0"/>
              <a:t> – </a:t>
            </a:r>
            <a:r>
              <a:rPr lang="en-GB" sz="1100" dirty="0" err="1"/>
              <a:t>h_lidar</a:t>
            </a:r>
            <a:r>
              <a:rPr lang="en-GB" sz="1100" dirty="0"/>
              <a:t>(measured).</a:t>
            </a:r>
          </a:p>
          <a:p>
            <a:pPr marL="342900" indent="-342900">
              <a:buAutoNum type="arabicPeriod"/>
            </a:pPr>
            <a:r>
              <a:rPr lang="en-GB" sz="1100" dirty="0" err="1"/>
              <a:t>h_error</a:t>
            </a:r>
            <a:r>
              <a:rPr lang="en-GB" sz="1100" dirty="0" err="1">
                <a:sym typeface="Wingdings" panose="05000000000000000000" pitchFamily="2" charset="2"/>
              </a:rPr>
              <a:t>PIDTotal_Thrust</a:t>
            </a:r>
            <a:r>
              <a:rPr lang="en-GB" sz="1100" dirty="0">
                <a:sym typeface="Wingdings" panose="05000000000000000000" pitchFamily="2" charset="2"/>
              </a:rPr>
              <a:t> setting needed to hit the height set point.</a:t>
            </a:r>
            <a:endParaRPr lang="en-GB" sz="1100" dirty="0"/>
          </a:p>
          <a:p>
            <a:pPr algn="ctr"/>
            <a:endParaRPr lang="en-SE" sz="1400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4B986E3-7781-D31C-2FDC-C544F0EF6FE1}"/>
              </a:ext>
            </a:extLst>
          </p:cNvPr>
          <p:cNvSpPr/>
          <p:nvPr/>
        </p:nvSpPr>
        <p:spPr>
          <a:xfrm rot="4828927">
            <a:off x="5285027" y="5651295"/>
            <a:ext cx="953507" cy="17443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B16907-4581-4203-7DE0-38295FFC2EAD}"/>
              </a:ext>
            </a:extLst>
          </p:cNvPr>
          <p:cNvSpPr txBox="1"/>
          <p:nvPr/>
        </p:nvSpPr>
        <p:spPr>
          <a:xfrm>
            <a:off x="4983774" y="4311829"/>
            <a:ext cx="234418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err="1">
                <a:solidFill>
                  <a:schemeClr val="bg1"/>
                </a:solidFill>
              </a:rPr>
              <a:t>h_ref</a:t>
            </a:r>
            <a:r>
              <a:rPr lang="en-GB" sz="1100" dirty="0">
                <a:solidFill>
                  <a:schemeClr val="bg1"/>
                </a:solidFill>
              </a:rPr>
              <a:t> commands 0 m, but since the ground is not included in the simulation model, then the Lidar start to measure loss of altitude as gravity acts on the rocket.</a:t>
            </a:r>
            <a:endParaRPr lang="en-SE" sz="1100" dirty="0">
              <a:solidFill>
                <a:schemeClr val="bg1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D3EA382-D379-ADD4-7437-9BCD9D051E7E}"/>
              </a:ext>
            </a:extLst>
          </p:cNvPr>
          <p:cNvSpPr/>
          <p:nvPr/>
        </p:nvSpPr>
        <p:spPr>
          <a:xfrm rot="15785238">
            <a:off x="9668321" y="4055223"/>
            <a:ext cx="364625" cy="1719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23A236-F66B-1BC1-C698-8A9C124D299B}"/>
              </a:ext>
            </a:extLst>
          </p:cNvPr>
          <p:cNvSpPr txBox="1"/>
          <p:nvPr/>
        </p:nvSpPr>
        <p:spPr>
          <a:xfrm>
            <a:off x="8856987" y="4332523"/>
            <a:ext cx="2344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err="1">
                <a:solidFill>
                  <a:schemeClr val="bg1"/>
                </a:solidFill>
              </a:rPr>
              <a:t>h_ref</a:t>
            </a:r>
            <a:r>
              <a:rPr lang="en-GB" sz="1100" dirty="0">
                <a:solidFill>
                  <a:schemeClr val="bg1"/>
                </a:solidFill>
              </a:rPr>
              <a:t> commands 5 meters at time = 9 seconds. PID acts to avoid overshoot and quickly converge to the command signal.</a:t>
            </a:r>
            <a:endParaRPr lang="en-SE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852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D4641C-E118-7560-5A05-D61522801E14}"/>
              </a:ext>
            </a:extLst>
          </p:cNvPr>
          <p:cNvSpPr/>
          <p:nvPr/>
        </p:nvSpPr>
        <p:spPr>
          <a:xfrm>
            <a:off x="263344" y="259297"/>
            <a:ext cx="3667432" cy="2155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u="sng" dirty="0">
                <a:solidFill>
                  <a:schemeClr val="tx1"/>
                </a:solidFill>
                <a:latin typeface="Aptos" panose="02110004020202020204"/>
              </a:rPr>
              <a:t>Thrust-LQR gain scheduling</a:t>
            </a:r>
            <a:endParaRPr kumimoji="0" lang="en-GB" sz="20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 panose="02110004020202020204"/>
              </a:rPr>
              <a:t>LQR gain is calculated for different Thrust levels from </a:t>
            </a:r>
            <a:r>
              <a:rPr lang="en-GB" sz="1100" dirty="0" err="1">
                <a:solidFill>
                  <a:schemeClr val="tx1"/>
                </a:solidFill>
                <a:latin typeface="Aptos" panose="02110004020202020204"/>
              </a:rPr>
              <a:t>T_min</a:t>
            </a:r>
            <a:r>
              <a:rPr lang="en-GB" sz="1100" dirty="0">
                <a:solidFill>
                  <a:schemeClr val="tx1"/>
                </a:solidFill>
                <a:latin typeface="Aptos" panose="02110004020202020204"/>
              </a:rPr>
              <a:t> to </a:t>
            </a:r>
            <a:r>
              <a:rPr lang="en-GB" sz="1100" dirty="0" err="1">
                <a:solidFill>
                  <a:schemeClr val="tx1"/>
                </a:solidFill>
                <a:latin typeface="Aptos" panose="02110004020202020204"/>
              </a:rPr>
              <a:t>T_max</a:t>
            </a:r>
            <a:r>
              <a:rPr lang="en-GB" sz="1100" dirty="0">
                <a:solidFill>
                  <a:schemeClr val="tx1"/>
                </a:solidFill>
                <a:latin typeface="Aptos" panose="02110004020202020204"/>
              </a:rPr>
              <a:t>, the values are stored in a Lookup table. Any value in between is interpolated.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 panose="02110004020202020204"/>
              </a:rPr>
              <a:t>The LQR gain for any corresponding thrust setting then forces the state-space system inputs [RPM_propeller1, RPM_propeller2, </a:t>
            </a:r>
            <a:r>
              <a:rPr lang="en-GB" sz="1100" dirty="0" err="1">
                <a:solidFill>
                  <a:schemeClr val="tx1"/>
                </a:solidFill>
                <a:latin typeface="Aptos" panose="02110004020202020204"/>
              </a:rPr>
              <a:t>pitch_rudder</a:t>
            </a:r>
            <a:r>
              <a:rPr lang="en-GB" sz="1100" dirty="0">
                <a:solidFill>
                  <a:schemeClr val="tx1"/>
                </a:solidFill>
                <a:latin typeface="Aptos" panose="02110004020202020204"/>
              </a:rPr>
              <a:t>, </a:t>
            </a:r>
            <a:r>
              <a:rPr lang="en-GB" sz="1100" dirty="0" err="1">
                <a:solidFill>
                  <a:schemeClr val="tx1"/>
                </a:solidFill>
                <a:latin typeface="Aptos" panose="02110004020202020204"/>
              </a:rPr>
              <a:t>yaw_rudder</a:t>
            </a:r>
            <a:r>
              <a:rPr lang="en-GB" sz="1100" dirty="0">
                <a:solidFill>
                  <a:schemeClr val="tx1"/>
                </a:solidFill>
                <a:latin typeface="Aptos" panose="02110004020202020204"/>
              </a:rPr>
              <a:t>] to adjust according to the desired set points.</a:t>
            </a:r>
          </a:p>
        </p:txBody>
      </p:sp>
      <p:pic>
        <p:nvPicPr>
          <p:cNvPr id="1026" name="Picture 2" descr="No description available.">
            <a:extLst>
              <a:ext uri="{FF2B5EF4-FFF2-40B4-BE49-F238E27FC236}">
                <a16:creationId xmlns:a16="http://schemas.microsoft.com/office/drawing/2014/main" id="{49B262F1-EB8D-A51E-41A8-011FBB495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817" y="3260073"/>
            <a:ext cx="3370341" cy="3576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BCAFB9-74AF-0FEA-7B7A-E50411107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4" y="3260073"/>
            <a:ext cx="6607787" cy="3405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46DFEC-A3AA-B6B9-CB4A-3EFD663FE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161" y="0"/>
            <a:ext cx="5486200" cy="290748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2AE350B0-29BC-9102-2DC8-8E8B0C166D02}"/>
              </a:ext>
            </a:extLst>
          </p:cNvPr>
          <p:cNvSpPr/>
          <p:nvPr/>
        </p:nvSpPr>
        <p:spPr>
          <a:xfrm rot="19483359">
            <a:off x="4047300" y="1932862"/>
            <a:ext cx="1619242" cy="15931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BAE720-E6B6-0076-5CBF-03B2C7BA09BF}"/>
              </a:ext>
            </a:extLst>
          </p:cNvPr>
          <p:cNvSpPr txBox="1"/>
          <p:nvPr/>
        </p:nvSpPr>
        <p:spPr>
          <a:xfrm>
            <a:off x="2564092" y="2522765"/>
            <a:ext cx="2344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Simulated wind gust during time  = 2 -8 seconds. Pitch states are affected, and alpha rudder inputs react to stabilize</a:t>
            </a:r>
            <a:endParaRPr lang="en-SE" sz="11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986E364-5AC5-1DDD-329F-D2BA95A885FC}"/>
              </a:ext>
            </a:extLst>
          </p:cNvPr>
          <p:cNvSpPr/>
          <p:nvPr/>
        </p:nvSpPr>
        <p:spPr>
          <a:xfrm rot="6937836">
            <a:off x="1297693" y="3863988"/>
            <a:ext cx="1960042" cy="18975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0030BE-849D-03EC-A410-E05C1E6CB090}"/>
              </a:ext>
            </a:extLst>
          </p:cNvPr>
          <p:cNvSpPr/>
          <p:nvPr/>
        </p:nvSpPr>
        <p:spPr>
          <a:xfrm rot="16648244">
            <a:off x="4647769" y="5370343"/>
            <a:ext cx="556784" cy="26818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31AAB6-8045-0CE7-A3D9-019E97B3E463}"/>
              </a:ext>
            </a:extLst>
          </p:cNvPr>
          <p:cNvSpPr txBox="1"/>
          <p:nvPr/>
        </p:nvSpPr>
        <p:spPr>
          <a:xfrm>
            <a:off x="4002681" y="5743398"/>
            <a:ext cx="234418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A roll command is given at time = 13 seconds. Propellers react quickly to reduce roll, see next slide.</a:t>
            </a:r>
            <a:endParaRPr lang="en-SE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16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AD6B44F-33AA-7C17-F39D-5A841729F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039" y="1128124"/>
            <a:ext cx="8956148" cy="460175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B54C15-4A0F-15F2-4561-CCF3BA5CA2F9}"/>
              </a:ext>
            </a:extLst>
          </p:cNvPr>
          <p:cNvSpPr/>
          <p:nvPr/>
        </p:nvSpPr>
        <p:spPr>
          <a:xfrm>
            <a:off x="353959" y="281302"/>
            <a:ext cx="2684207" cy="30234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u="sng" dirty="0">
                <a:solidFill>
                  <a:prstClr val="black"/>
                </a:solidFill>
                <a:latin typeface="Aptos" panose="02110004020202020204"/>
              </a:rPr>
              <a:t>R</a:t>
            </a:r>
            <a:r>
              <a:rPr kumimoji="0" lang="en-GB" sz="20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oll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-Pitch-Yaw control</a:t>
            </a:r>
          </a:p>
          <a:p>
            <a:pPr>
              <a:defRPr/>
            </a:pPr>
            <a:r>
              <a:rPr lang="en-GB" sz="1100" dirty="0">
                <a:solidFill>
                  <a:schemeClr val="tx1"/>
                </a:solidFill>
              </a:rPr>
              <a:t>The LQR strategy is aimed at reducing: </a:t>
            </a:r>
            <a:br>
              <a:rPr lang="en-GB" sz="1100" dirty="0">
                <a:solidFill>
                  <a:schemeClr val="tx1"/>
                </a:solidFill>
              </a:rPr>
            </a:br>
            <a:r>
              <a:rPr lang="en-GB" sz="1100" dirty="0">
                <a:solidFill>
                  <a:schemeClr val="tx1"/>
                </a:solidFill>
              </a:rPr>
              <a:t>1.  Unwanted roll (by manipulating the RPM differential between propellers.</a:t>
            </a:r>
            <a:br>
              <a:rPr lang="en-GB" sz="1100" dirty="0">
                <a:solidFill>
                  <a:schemeClr val="tx1"/>
                </a:solidFill>
              </a:rPr>
            </a:br>
            <a:r>
              <a:rPr lang="en-GB" sz="1100" dirty="0">
                <a:solidFill>
                  <a:schemeClr val="tx1"/>
                </a:solidFill>
              </a:rPr>
              <a:t>2. Unwanted shifts from yaw or pitch set point =0 (upright position control modelled like an inverted pendulum). </a:t>
            </a:r>
          </a:p>
          <a:p>
            <a:pPr>
              <a:defRPr/>
            </a:pPr>
            <a:endParaRPr lang="en-GB" sz="11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GB" sz="1100" b="1" dirty="0">
                <a:solidFill>
                  <a:schemeClr val="tx1"/>
                </a:solidFill>
              </a:rPr>
              <a:t>Ultimately, roll, yaw, and pitch drifts are kept at a minimum to improve stability of the rocket during flight.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Picture 7" descr="A red and black sign with arrows pointing to a grey rectangular object&#10;&#10;AI-generated content may be incorrect.">
            <a:extLst>
              <a:ext uri="{FF2B5EF4-FFF2-40B4-BE49-F238E27FC236}">
                <a16:creationId xmlns:a16="http://schemas.microsoft.com/office/drawing/2014/main" id="{67AAB4BE-F416-7803-E399-FB2E074F4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19" y="3687448"/>
            <a:ext cx="2764991" cy="18064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4BE5C3-88C5-1CD1-1344-6A7C9F9A6165}"/>
              </a:ext>
            </a:extLst>
          </p:cNvPr>
          <p:cNvSpPr txBox="1"/>
          <p:nvPr/>
        </p:nvSpPr>
        <p:spPr>
          <a:xfrm>
            <a:off x="136419" y="5556021"/>
            <a:ext cx="30996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Tandem-rotor helicopters use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Counter-rotating rotor"/>
              </a:rPr>
              <a:t>counter-rotating rotors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with each cancelling out the other's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Torque"/>
              </a:rPr>
              <a:t>torque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SE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CBA3344-051F-6A8D-9AA2-49CE86A47A81}"/>
              </a:ext>
            </a:extLst>
          </p:cNvPr>
          <p:cNvSpPr/>
          <p:nvPr/>
        </p:nvSpPr>
        <p:spPr>
          <a:xfrm rot="9041523">
            <a:off x="9148725" y="2323455"/>
            <a:ext cx="556784" cy="26818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CE57E-0FE8-404A-40F2-A1FD3C59F218}"/>
              </a:ext>
            </a:extLst>
          </p:cNvPr>
          <p:cNvSpPr txBox="1"/>
          <p:nvPr/>
        </p:nvSpPr>
        <p:spPr>
          <a:xfrm>
            <a:off x="9735514" y="1941309"/>
            <a:ext cx="23441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A roll command is given at time = 13 seconds. Propellers provide an RPM difference that compensates roll and also affects total thrust.</a:t>
            </a:r>
            <a:endParaRPr lang="en-SE" sz="11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895E2A-A3C2-897E-D9AD-5B6E60DF635D}"/>
              </a:ext>
            </a:extLst>
          </p:cNvPr>
          <p:cNvSpPr txBox="1"/>
          <p:nvPr/>
        </p:nvSpPr>
        <p:spPr>
          <a:xfrm>
            <a:off x="4430352" y="1793039"/>
            <a:ext cx="23441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For the altitude = 5 m command, both propellers go to max thrust.</a:t>
            </a:r>
            <a:endParaRPr lang="en-SE" sz="1100" dirty="0">
              <a:solidFill>
                <a:schemeClr val="bg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BFFF277-80CA-DBB3-9CE7-7D251B0C3A13}"/>
              </a:ext>
            </a:extLst>
          </p:cNvPr>
          <p:cNvSpPr/>
          <p:nvPr/>
        </p:nvSpPr>
        <p:spPr>
          <a:xfrm rot="2924521">
            <a:off x="6743046" y="2536614"/>
            <a:ext cx="556784" cy="26818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56089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355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Gabriel Rujano Balza</dc:creator>
  <cp:lastModifiedBy>Jose Gabriel Rujano Balza</cp:lastModifiedBy>
  <cp:revision>17</cp:revision>
  <dcterms:created xsi:type="dcterms:W3CDTF">2025-11-27T22:31:24Z</dcterms:created>
  <dcterms:modified xsi:type="dcterms:W3CDTF">2025-11-30T08:50:28Z</dcterms:modified>
</cp:coreProperties>
</file>